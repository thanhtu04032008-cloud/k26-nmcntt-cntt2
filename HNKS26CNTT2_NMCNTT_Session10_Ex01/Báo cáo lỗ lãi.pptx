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42365" y="3109595"/>
            <a:ext cx="7136130" cy="259588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Báo cáo lỗ lãi</a:t>
            </a:r>
            <a:br>
              <a:rPr lang="en-US" b="1"/>
            </a:br>
            <a:r>
              <a:rPr lang="en-US" b="1">
                <a:solidFill>
                  <a:schemeClr val="accent1">
                    <a:lumMod val="60000"/>
                    <a:lumOff val="40000"/>
                  </a:schemeClr>
                </a:solidFill>
              </a:rPr>
              <a:t>tháng 05/2024</a:t>
            </a:r>
            <a:br>
              <a:rPr lang="en-US" b="1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42365" y="668655"/>
            <a:ext cx="6238240" cy="1341755"/>
          </a:xfrm>
        </p:spPr>
        <p:txBody>
          <a:bodyPr>
            <a:normAutofit/>
          </a:bodyPr>
          <a:p>
            <a:pPr algn="l"/>
            <a:r>
              <a:rPr lang="en-US" sz="4000" b="1">
                <a:solidFill>
                  <a:schemeClr val="accent1">
                    <a:lumMod val="75000"/>
                  </a:schemeClr>
                </a:solidFill>
              </a:rPr>
              <a:t>PayKX</a:t>
            </a:r>
            <a:endParaRPr lang="en-US" sz="4000" b="1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/>
              <a:t>Ví điện tử cho sinh viên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991225" y="3109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8" name="Picture 7" descr="Screenshot 2026-10-26 1112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325" y="2010410"/>
            <a:ext cx="4608830" cy="45599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4913630" cy="705485"/>
          </a:xfrm>
        </p:spPr>
        <p:txBody>
          <a:bodyPr/>
          <a:p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Tổng quan kết quả</a:t>
            </a:r>
            <a:endParaRPr 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3905" y="1806575"/>
            <a:ext cx="2216785" cy="40963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658870" y="1805940"/>
            <a:ext cx="2216785" cy="40970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553835" y="1806575"/>
            <a:ext cx="2216150" cy="40963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448165" y="1805940"/>
            <a:ext cx="2194560" cy="40970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767080" y="2615565"/>
            <a:ext cx="221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DOANH THU THUẦN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753110" y="3441065"/>
            <a:ext cx="22275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12,45</a:t>
            </a:r>
            <a:r>
              <a:rPr 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sz="320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tỷ VND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759460" y="4914265"/>
            <a:ext cx="22212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/>
              <a:t>+ 18,6%</a:t>
            </a:r>
            <a:r>
              <a:rPr lang="en-US"/>
              <a:t> </a:t>
            </a:r>
            <a:endParaRPr lang="en-US"/>
          </a:p>
          <a:p>
            <a:pPr algn="ctr"/>
            <a:r>
              <a:rPr lang="en-US"/>
              <a:t>so với 4/2024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658870" y="2615565"/>
            <a:ext cx="2208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TỔNG CHI PHÍ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6545580" y="2615565"/>
            <a:ext cx="2233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LỢI NHUẬN GỘP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9448165" y="2615565"/>
            <a:ext cx="2195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LỢI NHUẬN SAU THUẾ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3658870" y="3441065"/>
            <a:ext cx="22085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/>
              <a:t>7,28</a:t>
            </a:r>
            <a:r>
              <a:rPr lang="en-US" b="1"/>
              <a:t> </a:t>
            </a:r>
            <a:endParaRPr lang="en-US" b="1"/>
          </a:p>
          <a:p>
            <a:pPr algn="ctr"/>
            <a:r>
              <a:rPr lang="en-US" sz="2800"/>
              <a:t>tỷ VND</a:t>
            </a:r>
            <a:endParaRPr lang="en-US" sz="2800"/>
          </a:p>
        </p:txBody>
      </p:sp>
      <p:sp>
        <p:nvSpPr>
          <p:cNvPr id="19" name="Text Box 18"/>
          <p:cNvSpPr txBox="1"/>
          <p:nvPr/>
        </p:nvSpPr>
        <p:spPr>
          <a:xfrm>
            <a:off x="3659505" y="4914265"/>
            <a:ext cx="22180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/>
              <a:t>+ 12,1%</a:t>
            </a:r>
            <a:endParaRPr lang="en-US" sz="2400"/>
          </a:p>
          <a:p>
            <a:pPr algn="ctr"/>
            <a:r>
              <a:rPr lang="en-US"/>
              <a:t>so với 4/2024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545580" y="3316605"/>
            <a:ext cx="22371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/>
              <a:t>5,17 </a:t>
            </a:r>
            <a:endParaRPr lang="en-US" sz="3600" b="1"/>
          </a:p>
          <a:p>
            <a:pPr algn="ctr"/>
            <a:r>
              <a:rPr lang="en-US" sz="2800"/>
              <a:t>tỷ VND</a:t>
            </a:r>
            <a:endParaRPr lang="en-US" sz="2800"/>
          </a:p>
        </p:txBody>
      </p:sp>
      <p:sp>
        <p:nvSpPr>
          <p:cNvPr id="21" name="Text Box 20"/>
          <p:cNvSpPr txBox="1"/>
          <p:nvPr/>
        </p:nvSpPr>
        <p:spPr>
          <a:xfrm>
            <a:off x="6553835" y="4914265"/>
            <a:ext cx="22078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/>
              <a:t>+ 27,4%</a:t>
            </a:r>
            <a:endParaRPr lang="en-US" sz="2400"/>
          </a:p>
          <a:p>
            <a:pPr algn="ctr"/>
            <a:r>
              <a:rPr lang="en-US"/>
              <a:t>so với 4/2024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9456420" y="3441065"/>
            <a:ext cx="21926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/>
              <a:t>2,89</a:t>
            </a:r>
            <a:endParaRPr lang="en-US" sz="3600"/>
          </a:p>
          <a:p>
            <a:pPr algn="ctr"/>
            <a:r>
              <a:rPr lang="en-US" sz="2800"/>
              <a:t>tỷ VND</a:t>
            </a:r>
            <a:endParaRPr lang="en-US" sz="2800"/>
          </a:p>
        </p:txBody>
      </p:sp>
      <p:sp>
        <p:nvSpPr>
          <p:cNvPr id="23" name="Text Box 22"/>
          <p:cNvSpPr txBox="1"/>
          <p:nvPr/>
        </p:nvSpPr>
        <p:spPr>
          <a:xfrm>
            <a:off x="9463405" y="4914265"/>
            <a:ext cx="21837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/>
              <a:t>+ 31,2%</a:t>
            </a:r>
            <a:endParaRPr lang="en-US"/>
          </a:p>
          <a:p>
            <a:pPr algn="ctr"/>
            <a:r>
              <a:rPr lang="en-US"/>
              <a:t>so với 4/2024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5487670" cy="705485"/>
          </a:xfrm>
        </p:spPr>
        <p:txBody>
          <a:bodyPr/>
          <a:p>
            <a:r>
              <a:rPr lang="en-US"/>
              <a:t>Doanh thu thuần</a:t>
            </a:r>
            <a:endParaRPr lang="en-US"/>
          </a:p>
        </p:txBody>
      </p:sp>
      <p:pic>
        <p:nvPicPr>
          <p:cNvPr id="6" name="Content Placeholder 5" descr="Screenshot 2026-10-26 11432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3968750" cy="43275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096000" y="608330"/>
            <a:ext cx="56222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Cơ cấu chi phí</a:t>
            </a:r>
            <a:endParaRPr lang="en-US" sz="3600"/>
          </a:p>
        </p:txBody>
      </p:sp>
      <p:pic>
        <p:nvPicPr>
          <p:cNvPr id="8" name="Picture 7" descr="Screenshot 2026-10-26 1144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86815"/>
            <a:ext cx="4935855" cy="42443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WPS Presentation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Inter Bold</vt:lpstr>
      <vt:lpstr>Segoe Print</vt:lpstr>
      <vt:lpstr>Inter</vt:lpstr>
      <vt:lpstr>Manrope ExtraBold</vt:lpstr>
      <vt:lpstr>Lato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lỗ lãi tháng 05/2024 </dc:title>
  <dc:creator>Admin</dc:creator>
  <cp:lastModifiedBy>tú thanh</cp:lastModifiedBy>
  <cp:revision>1</cp:revision>
  <dcterms:created xsi:type="dcterms:W3CDTF">2026-10-26T04:46:21Z</dcterms:created>
  <dcterms:modified xsi:type="dcterms:W3CDTF">2026-10-26T04:46:21Z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1630823AC70041FB9FF5F82AFD01FAF2_11</vt:lpwstr>
  </property>
</Properties>
</file>